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70" r:id="rId9"/>
    <p:sldId id="263" r:id="rId10"/>
    <p:sldId id="265" r:id="rId11"/>
    <p:sldId id="271" r:id="rId12"/>
    <p:sldId id="266" r:id="rId13"/>
    <p:sldId id="267" r:id="rId14"/>
    <p:sldId id="268" r:id="rId15"/>
    <p:sldId id="269" r:id="rId16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8151F50A-FD6D-4320-B650-8A3A45C69DB4}" v="53" dt="2026-01-23T17:46:05.963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006" autoAdjust="0"/>
    <p:restoredTop sz="94660"/>
  </p:normalViewPr>
  <p:slideViewPr>
    <p:cSldViewPr snapToGrid="0">
      <p:cViewPr varScale="1">
        <p:scale>
          <a:sx n="80" d="100"/>
          <a:sy n="80" d="100"/>
        </p:scale>
        <p:origin x="510" y="3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21" Type="http://schemas.microsoft.com/office/2015/10/relationships/revisionInfo" Target="revisionInfo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Celestia-R1---OverlayTitle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3962399" y="1964267"/>
            <a:ext cx="7197726" cy="2421464"/>
          </a:xfrm>
        </p:spPr>
        <p:txBody>
          <a:bodyPr anchor="b">
            <a:normAutofit/>
          </a:bodyPr>
          <a:lstStyle>
            <a:lvl1pPr algn="r">
              <a:defRPr sz="4800">
                <a:effectLst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3962399" y="4385732"/>
            <a:ext cx="7197726" cy="1405467"/>
          </a:xfrm>
        </p:spPr>
        <p:txBody>
          <a:bodyPr anchor="t">
            <a:normAutofit/>
          </a:bodyPr>
          <a:lstStyle>
            <a:lvl1pPr marL="0" indent="0" algn="r">
              <a:buNone/>
              <a:defRPr sz="1800" cap="all">
                <a:solidFill>
                  <a:schemeClr val="tx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932558" y="5870575"/>
            <a:ext cx="1600200" cy="377825"/>
          </a:xfrm>
        </p:spPr>
        <p:txBody>
          <a:bodyPr/>
          <a:lstStyle/>
          <a:p>
            <a:fld id="{B61BEF0D-F0BB-DE4B-95CE-6DB70DBA9567}" type="datetimeFigureOut">
              <a:rPr lang="en-US" dirty="0"/>
              <a:pPr/>
              <a:t>1/23/2026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962399" y="5870575"/>
            <a:ext cx="4893958" cy="377825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608958" y="5870575"/>
            <a:ext cx="551167" cy="377825"/>
          </a:xfrm>
        </p:spPr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anchor="ctr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1/23/2026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3308581"/>
            <a:ext cx="10131427" cy="1468800"/>
          </a:xfrm>
        </p:spPr>
        <p:txBody>
          <a:bodyPr anchor="b"/>
          <a:lstStyle>
            <a:lvl1pPr algn="l">
              <a:defRPr sz="4000" b="0" cap="all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5799" y="4777381"/>
            <a:ext cx="10131428" cy="860400"/>
          </a:xfrm>
        </p:spPr>
        <p:txBody>
          <a:bodyPr anchor="t">
            <a:normAutofit/>
          </a:bodyPr>
          <a:lstStyle>
            <a:lvl1pPr marL="0" indent="0" algn="l">
              <a:buNone/>
              <a:defRPr sz="2000" cap="all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1/23/2026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5802" y="2142067"/>
            <a:ext cx="4995334" cy="3649134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821895" y="2142067"/>
            <a:ext cx="4995332" cy="3649133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1/23/2026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73670" y="2218267"/>
            <a:ext cx="4709054" cy="576262"/>
          </a:xfrm>
        </p:spPr>
        <p:txBody>
          <a:bodyPr anchor="b">
            <a:noAutofit/>
          </a:bodyPr>
          <a:lstStyle>
            <a:lvl1pPr marL="0" indent="0">
              <a:buNone/>
              <a:defRPr sz="28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85801" y="2870201"/>
            <a:ext cx="4996923" cy="2920998"/>
          </a:xfrm>
        </p:spPr>
        <p:txBody>
          <a:bodyPr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096003" y="2226734"/>
            <a:ext cx="4722813" cy="576262"/>
          </a:xfrm>
        </p:spPr>
        <p:txBody>
          <a:bodyPr anchor="b">
            <a:noAutofit/>
          </a:bodyPr>
          <a:lstStyle>
            <a:lvl1pPr marL="0" indent="0">
              <a:buNone/>
              <a:defRPr sz="28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823483" y="2870201"/>
            <a:ext cx="4995334" cy="2920998"/>
          </a:xfrm>
        </p:spPr>
        <p:txBody>
          <a:bodyPr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1/23/2026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1/23/2026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1/23/2026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2074333"/>
            <a:ext cx="3680885" cy="1371600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648201" y="609601"/>
            <a:ext cx="6169026" cy="5181600"/>
          </a:xfrm>
        </p:spPr>
        <p:txBody>
          <a:bodyPr anchor="ctr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800" y="3445933"/>
            <a:ext cx="3680885" cy="1828800"/>
          </a:xfrm>
        </p:spPr>
        <p:txBody>
          <a:bodyPr anchor="t">
            <a:norm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1/23/2026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1600200"/>
            <a:ext cx="6164653" cy="1371600"/>
          </a:xfrm>
        </p:spPr>
        <p:txBody>
          <a:bodyPr anchor="b">
            <a:normAutofit/>
          </a:bodyPr>
          <a:lstStyle>
            <a:lvl1pPr algn="l">
              <a:defRPr sz="28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4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7536253" y="914400"/>
            <a:ext cx="3280974" cy="4572000"/>
          </a:xfrm>
          <a:prstGeom prst="roundRect">
            <a:avLst>
              <a:gd name="adj" fmla="val 4280"/>
            </a:avLst>
          </a:prstGeom>
          <a:ln w="50800" cap="sq" cmpd="dbl">
            <a:gradFill flip="none" rotWithShape="1">
              <a:gsLst>
                <a:gs pos="0">
                  <a:srgbClr val="FFFFFF"/>
                </a:gs>
                <a:gs pos="100000">
                  <a:schemeClr val="tx1">
                    <a:alpha val="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miter lim="800000"/>
          </a:ln>
          <a:effectLst>
            <a:outerShdw blurRad="254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 dirty="0"/>
              <a:t>Click icon to add picture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800" y="2971800"/>
            <a:ext cx="6164653" cy="1828800"/>
          </a:xfrm>
        </p:spPr>
        <p:txBody>
          <a:bodyPr anchor="t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1/23/2026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4732865"/>
            <a:ext cx="1013142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371600" y="932112"/>
            <a:ext cx="8759827" cy="3164976"/>
          </a:xfrm>
          <a:prstGeom prst="roundRect">
            <a:avLst>
              <a:gd name="adj" fmla="val 4380"/>
            </a:avLst>
          </a:prstGeom>
          <a:ln w="50800" cap="sq" cmpd="dbl">
            <a:gradFill flip="none" rotWithShape="1">
              <a:gsLst>
                <a:gs pos="0">
                  <a:srgbClr val="FFFFFF"/>
                </a:gs>
                <a:gs pos="100000">
                  <a:schemeClr val="tx1">
                    <a:alpha val="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miter lim="800000"/>
          </a:ln>
          <a:effectLst>
            <a:outerShdw blurRad="254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 dirty="0"/>
              <a:t>Click icon to add picture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800" y="5299603"/>
            <a:ext cx="10131427" cy="49371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1/23/2026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1" y="609601"/>
            <a:ext cx="10131427" cy="3124199"/>
          </a:xfrm>
        </p:spPr>
        <p:txBody>
          <a:bodyPr anchor="ctr">
            <a:normAutofit/>
          </a:bodyPr>
          <a:lstStyle>
            <a:lvl1pPr algn="l">
              <a:defRPr sz="32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5800" y="4343400"/>
            <a:ext cx="10131428" cy="1447800"/>
          </a:xfrm>
        </p:spPr>
        <p:txBody>
          <a:bodyPr anchor="ctr">
            <a:normAutofit/>
          </a:bodyPr>
          <a:lstStyle>
            <a:lvl1pPr marL="0" indent="0" algn="l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1/23/2026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Picture 15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10237867" y="2743200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88275" y="823337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92267" y="609601"/>
            <a:ext cx="9550399" cy="2743199"/>
          </a:xfrm>
        </p:spPr>
        <p:txBody>
          <a:bodyPr anchor="ctr">
            <a:normAutofit/>
          </a:bodyPr>
          <a:lstStyle>
            <a:lvl1pPr algn="l">
              <a:defRPr sz="3200" b="0" cap="none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097875" y="3352800"/>
            <a:ext cx="9339184" cy="381000"/>
          </a:xfrm>
        </p:spPr>
        <p:txBody>
          <a:bodyPr anchor="ctr"/>
          <a:lstStyle>
            <a:lvl1pPr marL="0" indent="0">
              <a:buFontTx/>
              <a:buNone/>
              <a:defRPr/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7465" y="4343400"/>
            <a:ext cx="10152367" cy="1447800"/>
          </a:xfrm>
        </p:spPr>
        <p:txBody>
          <a:bodyPr anchor="ctr">
            <a:normAutofit/>
          </a:bodyPr>
          <a:lstStyle>
            <a:lvl1pPr marL="0" indent="0" algn="l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1/23/2026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2" y="3308581"/>
            <a:ext cx="10131425" cy="1468800"/>
          </a:xfrm>
        </p:spPr>
        <p:txBody>
          <a:bodyPr anchor="b">
            <a:normAutofit/>
          </a:bodyPr>
          <a:lstStyle>
            <a:lvl1pPr algn="l">
              <a:defRPr sz="32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5801" y="4777381"/>
            <a:ext cx="10131426" cy="860400"/>
          </a:xfrm>
        </p:spPr>
        <p:txBody>
          <a:bodyPr anchor="t">
            <a:normAutofit/>
          </a:bodyPr>
          <a:lstStyle>
            <a:lvl1pPr marL="0" indent="0" algn="l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1/23/2026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10237867" y="2743200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88275" y="823337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6" name="Title 1"/>
          <p:cNvSpPr>
            <a:spLocks noGrp="1"/>
          </p:cNvSpPr>
          <p:nvPr>
            <p:ph type="title"/>
          </p:nvPr>
        </p:nvSpPr>
        <p:spPr>
          <a:xfrm>
            <a:off x="992267" y="609601"/>
            <a:ext cx="9550399" cy="2743199"/>
          </a:xfrm>
        </p:spPr>
        <p:txBody>
          <a:bodyPr anchor="ctr">
            <a:normAutofit/>
          </a:bodyPr>
          <a:lstStyle>
            <a:lvl1pPr algn="l">
              <a:defRPr sz="3200" b="0" cap="none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85800" y="3886200"/>
            <a:ext cx="10135436" cy="889000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buNone/>
              <a:defRPr lang="en-US" sz="2400" b="0" cap="none" dirty="0">
                <a:ln w="3175" cmpd="sng">
                  <a:noFill/>
                </a:ln>
                <a:solidFill>
                  <a:schemeClr val="tx1"/>
                </a:solidFill>
                <a:effectLst/>
              </a:defRPr>
            </a:lvl1pPr>
          </a:lstStyle>
          <a:p>
            <a:pPr marL="0" lvl="0">
              <a:spcBef>
                <a:spcPct val="0"/>
              </a:spcBef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5799" y="4775200"/>
            <a:ext cx="10135436" cy="1016000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1/23/2026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1" y="609601"/>
            <a:ext cx="10131427" cy="2743199"/>
          </a:xfrm>
        </p:spPr>
        <p:txBody>
          <a:bodyPr vert="horz" lIns="91440" tIns="45720" rIns="91440" bIns="45720" rtlCol="0" anchor="ctr">
            <a:normAutofit/>
          </a:bodyPr>
          <a:lstStyle>
            <a:lvl1pPr>
              <a:defRPr lang="en-US" b="0" dirty="0"/>
            </a:lvl1pPr>
          </a:lstStyle>
          <a:p>
            <a:pPr marL="0"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85801" y="3505200"/>
            <a:ext cx="10131428" cy="838200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buNone/>
              <a:defRPr lang="en-US" sz="2800" b="0" cap="none" dirty="0">
                <a:ln w="3175" cmpd="sng">
                  <a:noFill/>
                </a:ln>
                <a:solidFill>
                  <a:schemeClr val="tx1"/>
                </a:solidFill>
                <a:effectLst/>
              </a:defRPr>
            </a:lvl1pPr>
          </a:lstStyle>
          <a:p>
            <a:pPr marL="0" lvl="0">
              <a:spcBef>
                <a:spcPct val="0"/>
              </a:spcBef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5800" y="4343400"/>
            <a:ext cx="10131428" cy="1447800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1/23/2026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1/23/2026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  <p:sp>
        <p:nvSpPr>
          <p:cNvPr id="8" name="Title 1"/>
          <p:cNvSpPr>
            <a:spLocks noGrp="1"/>
          </p:cNvSpPr>
          <p:nvPr>
            <p:ph type="title"/>
          </p:nvPr>
        </p:nvSpPr>
        <p:spPr>
          <a:xfrm>
            <a:off x="685801" y="609600"/>
            <a:ext cx="10131425" cy="145626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658675" y="609599"/>
            <a:ext cx="2158552" cy="5181601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85800" y="609600"/>
            <a:ext cx="7832116" cy="5181600"/>
          </a:xfrm>
        </p:spPr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1/23/2026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85801" y="609600"/>
            <a:ext cx="10131425" cy="1456267"/>
          </a:xfrm>
          <a:prstGeom prst="rect">
            <a:avLst/>
          </a:prstGeom>
          <a:effectLst/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5801" y="2142067"/>
            <a:ext cx="10131425" cy="364913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589660" y="5870575"/>
            <a:ext cx="1600200" cy="3778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fld id="{B61BEF0D-F0BB-DE4B-95CE-6DB70DBA9567}" type="datetimeFigureOut">
              <a:rPr lang="en-US" dirty="0"/>
              <a:pPr/>
              <a:t>1/23/2026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85800" y="5870575"/>
            <a:ext cx="7827659" cy="3778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266060" y="5870575"/>
            <a:ext cx="551167" cy="3778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 bg1="dk1" tx1="lt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60" r:id="rId9"/>
    <p:sldLayoutId id="2147483657" r:id="rId10"/>
    <p:sldLayoutId id="2147483663" r:id="rId11"/>
    <p:sldLayoutId id="2147483664" r:id="rId12"/>
    <p:sldLayoutId id="2147483665" r:id="rId13"/>
    <p:sldLayoutId id="2147483668" r:id="rId14"/>
    <p:sldLayoutId id="2147483667" r:id="rId15"/>
    <p:sldLayoutId id="2147483658" r:id="rId16"/>
    <p:sldLayoutId id="2147483659" r:id="rId17"/>
  </p:sldLayoutIdLst>
  <p:txStyles>
    <p:titleStyle>
      <a:lvl1pPr algn="l" defTabSz="457200" rtl="0" eaLnBrk="1" latinLnBrk="0" hangingPunct="1">
        <a:spcBef>
          <a:spcPct val="0"/>
        </a:spcBef>
        <a:buNone/>
        <a:defRPr sz="3600" kern="1200" cap="all">
          <a:ln w="3175" cmpd="sng">
            <a:noFill/>
          </a:ln>
          <a:solidFill>
            <a:schemeClr val="tx1"/>
          </a:solidFill>
          <a:effectLst/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285750" indent="-285750" algn="l" defTabSz="457200" rtl="0" eaLnBrk="1" latinLnBrk="0" hangingPunct="1">
        <a:spcBef>
          <a:spcPts val="0"/>
        </a:spcBef>
        <a:spcAft>
          <a:spcPts val="1000"/>
        </a:spcAft>
        <a:buClr>
          <a:schemeClr val="tx1"/>
        </a:buClr>
        <a:buSzPct val="100000"/>
        <a:buFont typeface="Arial"/>
        <a:buChar char="•"/>
        <a:defRPr sz="18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0"/>
        </a:spcBef>
        <a:spcAft>
          <a:spcPts val="1000"/>
        </a:spcAft>
        <a:buClr>
          <a:schemeClr val="tx1"/>
        </a:buClr>
        <a:buSzPct val="100000"/>
        <a:buFont typeface="Arial"/>
        <a:buChar char="•"/>
        <a:defRPr sz="16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2pPr>
      <a:lvl3pPr marL="1200150" indent="-285750" algn="l" defTabSz="457200" rtl="0" eaLnBrk="1" latinLnBrk="0" hangingPunct="1">
        <a:spcBef>
          <a:spcPts val="0"/>
        </a:spcBef>
        <a:spcAft>
          <a:spcPts val="1000"/>
        </a:spcAft>
        <a:buClr>
          <a:schemeClr val="tx1"/>
        </a:buClr>
        <a:buSzPct val="100000"/>
        <a:buFont typeface="Arial"/>
        <a:buChar char="•"/>
        <a:defRPr sz="14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3pPr>
      <a:lvl4pPr marL="1543050" indent="-171450" algn="l" defTabSz="457200" rtl="0" eaLnBrk="1" latinLnBrk="0" hangingPunct="1">
        <a:spcBef>
          <a:spcPts val="0"/>
        </a:spcBef>
        <a:spcAft>
          <a:spcPts val="1000"/>
        </a:spcAft>
        <a:buClr>
          <a:schemeClr val="tx1"/>
        </a:buClr>
        <a:buSzPct val="100000"/>
        <a:buFont typeface="Arial"/>
        <a:buChar char="•"/>
        <a:defRPr sz="12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4pPr>
      <a:lvl5pPr marL="2000250" indent="-171450" algn="l" defTabSz="457200" rtl="0" eaLnBrk="1" latinLnBrk="0" hangingPunct="1">
        <a:spcBef>
          <a:spcPts val="0"/>
        </a:spcBef>
        <a:spcAft>
          <a:spcPts val="1000"/>
        </a:spcAft>
        <a:buClr>
          <a:schemeClr val="tx1"/>
        </a:buClr>
        <a:buSzPct val="100000"/>
        <a:buFont typeface="Arial"/>
        <a:buChar char="•"/>
        <a:defRPr sz="12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0"/>
        </a:spcBef>
        <a:spcAft>
          <a:spcPts val="1000"/>
        </a:spcAft>
        <a:buClr>
          <a:schemeClr val="tx1"/>
        </a:buClr>
        <a:buSzPct val="100000"/>
        <a:buFont typeface="Arial"/>
        <a:buChar char="•"/>
        <a:defRPr sz="12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0"/>
        </a:spcBef>
        <a:spcAft>
          <a:spcPts val="1000"/>
        </a:spcAft>
        <a:buClr>
          <a:schemeClr val="tx1"/>
        </a:buClr>
        <a:buSzPct val="100000"/>
        <a:buFont typeface="Arial"/>
        <a:buChar char="•"/>
        <a:defRPr sz="12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0"/>
        </a:spcBef>
        <a:spcAft>
          <a:spcPts val="1000"/>
        </a:spcAft>
        <a:buClr>
          <a:schemeClr val="tx1"/>
        </a:buClr>
        <a:buSzPct val="100000"/>
        <a:buFont typeface="Arial"/>
        <a:buChar char="•"/>
        <a:defRPr sz="12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0"/>
        </a:spcBef>
        <a:spcAft>
          <a:spcPts val="1000"/>
        </a:spcAft>
        <a:buClr>
          <a:schemeClr val="tx1"/>
        </a:buClr>
        <a:buSzPct val="100000"/>
        <a:buFont typeface="Arial"/>
        <a:buChar char="•"/>
        <a:defRPr sz="12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C3570B9-66D3-BFF7-4B5E-1A38C789065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295291" y="2218268"/>
            <a:ext cx="7899340" cy="2421464"/>
          </a:xfrm>
        </p:spPr>
        <p:txBody>
          <a:bodyPr>
            <a:normAutofit/>
          </a:bodyPr>
          <a:lstStyle/>
          <a:p>
            <a:r>
              <a:rPr lang="en-US" cap="none" dirty="0"/>
              <a:t>Automated Legal </a:t>
            </a:r>
            <a:r>
              <a:rPr lang="en-US" cap="none" dirty="0" err="1"/>
              <a:t>Arguements</a:t>
            </a:r>
            <a:r>
              <a:rPr lang="en-US" cap="none" dirty="0"/>
              <a:t> Transcription And Translation</a:t>
            </a:r>
            <a:endParaRPr lang="en-IN" cap="none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FFA08E7-5F3F-17FC-4565-8C344D259C1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916392" y="4811302"/>
            <a:ext cx="7197726" cy="1405467"/>
          </a:xfrm>
        </p:spPr>
        <p:txBody>
          <a:bodyPr/>
          <a:lstStyle/>
          <a:p>
            <a:r>
              <a:rPr lang="en-US" cap="none" dirty="0"/>
              <a:t>Presented By : Ankush Majalikar</a:t>
            </a:r>
            <a:endParaRPr lang="en-IN" cap="none" dirty="0"/>
          </a:p>
        </p:txBody>
      </p:sp>
    </p:spTree>
    <p:extLst>
      <p:ext uri="{BB962C8B-B14F-4D97-AF65-F5344CB8AC3E}">
        <p14:creationId xmlns:p14="http://schemas.microsoft.com/office/powerpoint/2010/main" val="75591544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06A54CD-EDDA-CC6F-39A8-CCCFC7487A9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0050" y="379562"/>
            <a:ext cx="10131425" cy="1456267"/>
          </a:xfrm>
        </p:spPr>
        <p:txBody>
          <a:bodyPr/>
          <a:lstStyle/>
          <a:p>
            <a:r>
              <a:rPr lang="en-US" b="1" cap="none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Introduction</a:t>
            </a:r>
            <a:endParaRPr lang="en-IN" b="1" cap="none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A73F9F5B-A296-126C-7CB0-66E81E47F117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736122" y="1612144"/>
            <a:ext cx="10662248" cy="470898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algn="just" defTabSz="91440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Legal proceedings generate large volumes of </a:t>
            </a: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spoken arguments, judgments, and discussions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, which are traditionally documented manually. This process is </a:t>
            </a: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time-consuming, error-prone, and inefficient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, especially in multilingual legal environments.</a:t>
            </a:r>
          </a:p>
          <a:p>
            <a:pPr algn="just" defTabSz="91440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</a:pP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Legal Arguments Transcription and Translation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aims to automatically convert </a:t>
            </a: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courtroom audio and legal discussions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into </a:t>
            </a: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accurate written text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and further translate it into </a:t>
            </a: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required languages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while preserving </a:t>
            </a: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legal meaning and context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algn="just" defTabSz="91440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With the advancement of </a:t>
            </a: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Automatic Speech Recognition (ASR)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and </a:t>
            </a: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Natural Language Processing (NLP)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, it has become possible to </a:t>
            </a: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digitize legal audio data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, making it searchable, analyzable, and easily accessible.</a:t>
            </a:r>
          </a:p>
          <a:p>
            <a:pPr algn="just" defTabSz="91440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This system helps </a:t>
            </a: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lawyers, judges, legal researchers, and students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by providing </a:t>
            </a: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quick access to transcribed and translated legal content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, reducing dependency on manual transcription.</a:t>
            </a:r>
          </a:p>
          <a:p>
            <a:pPr algn="just" defTabSz="91440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The project focuses on handling </a:t>
            </a: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domain-specific legal terminology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, speaker variations, and language diversity to ensure </a:t>
            </a: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high accuracy and reliability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algn="just" defTabSz="91440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Overall, the proposed solution enhances </a:t>
            </a: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efficiency, transparency, and accessibility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in the legal system by automating transcription and translation of legal arguments.</a:t>
            </a:r>
          </a:p>
        </p:txBody>
      </p:sp>
    </p:spTree>
    <p:extLst>
      <p:ext uri="{BB962C8B-B14F-4D97-AF65-F5344CB8AC3E}">
        <p14:creationId xmlns:p14="http://schemas.microsoft.com/office/powerpoint/2010/main" val="307183546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EAD1507-6B0A-1D81-72A6-8AA51B88F53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80050" y="2452618"/>
            <a:ext cx="10131425" cy="3649133"/>
          </a:xfrm>
        </p:spPr>
        <p:txBody>
          <a:bodyPr>
            <a:noAutofit/>
          </a:bodyPr>
          <a:lstStyle/>
          <a:p>
            <a:r>
              <a:rPr lang="en-US" sz="23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Legal proceedings involve extensive </a:t>
            </a:r>
            <a:r>
              <a:rPr lang="en-US" sz="23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spoken arguments, hearings, and discussions</a:t>
            </a:r>
            <a:r>
              <a:rPr lang="en-US" sz="23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that must be accurately recorded for future reference. Currently, transcription of legal audio is largely </a:t>
            </a:r>
            <a:r>
              <a:rPr lang="en-US" sz="23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manual</a:t>
            </a:r>
            <a:r>
              <a:rPr lang="en-US" sz="23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making it </a:t>
            </a:r>
            <a:r>
              <a:rPr lang="en-US" sz="23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time-consuming, costly, and prone to human errors</a:t>
            </a:r>
            <a:r>
              <a:rPr lang="en-US" sz="23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Additionally, variations in speaker accents, overlapping speech, background noise, and the use of </a:t>
            </a:r>
            <a:r>
              <a:rPr lang="en-US" sz="23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complex legal terminology</a:t>
            </a:r>
            <a:r>
              <a:rPr lang="en-US" sz="23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further reduce transcription accuracy.</a:t>
            </a:r>
          </a:p>
          <a:p>
            <a:r>
              <a:rPr lang="en-US" sz="23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Moreover, legal content is often required in </a:t>
            </a:r>
            <a:r>
              <a:rPr lang="en-US" sz="23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multiple languages</a:t>
            </a:r>
            <a:r>
              <a:rPr lang="en-US" sz="23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to support lawyers, clients, and judicial authorities across diverse linguistic regions. The absence of an automated and reliable system for </a:t>
            </a:r>
            <a:r>
              <a:rPr lang="en-US" sz="23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both transcription and translation</a:t>
            </a:r>
            <a:r>
              <a:rPr lang="en-US" sz="23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creates delays, limits accessibility, and hinders efficient legal analysis. Hence, there is a need for a robust solution that can </a:t>
            </a:r>
            <a:r>
              <a:rPr lang="en-US" sz="23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accurately transcribe and translate legal arguments</a:t>
            </a:r>
            <a:r>
              <a:rPr lang="en-US" sz="23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while preserving their original meaning and legal context.</a:t>
            </a:r>
          </a:p>
          <a:p>
            <a:endParaRPr lang="en-IN" sz="2300" dirty="0"/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E507495C-FAB7-D5F6-1174-2E0939F6C0A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0050" y="379562"/>
            <a:ext cx="10131425" cy="1456267"/>
          </a:xfrm>
        </p:spPr>
        <p:txBody>
          <a:bodyPr/>
          <a:lstStyle/>
          <a:p>
            <a:r>
              <a:rPr lang="en-US" b="1" cap="none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Problem Statement</a:t>
            </a:r>
            <a:endParaRPr lang="en-IN" b="1" cap="none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24287068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7270E20-7CCB-D31D-C470-79BC967B66F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buFont typeface="Arial" panose="020B0604020202020204" pitchFamily="34" charset="0"/>
              <a:buChar char="•"/>
            </a:pPr>
            <a:r>
              <a:rPr lang="en-US" sz="23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 </a:t>
            </a:r>
            <a:r>
              <a:rPr lang="en-US" sz="23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convert legal audio recordings into written text</a:t>
            </a:r>
            <a:r>
              <a:rPr lang="en-US" sz="23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automatically.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3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 </a:t>
            </a:r>
            <a:r>
              <a:rPr lang="en-US" sz="23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translate the transcribed legal content</a:t>
            </a:r>
            <a:r>
              <a:rPr lang="en-US" sz="23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into required languages accurately.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3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 </a:t>
            </a:r>
            <a:r>
              <a:rPr lang="en-US" sz="23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reduce manual effort and time</a:t>
            </a:r>
            <a:r>
              <a:rPr lang="en-US" sz="23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involved in legal transcription work.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3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 </a:t>
            </a:r>
            <a:r>
              <a:rPr lang="en-US" sz="23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maintain the accuracy of legal terms and meanings</a:t>
            </a:r>
            <a:r>
              <a:rPr lang="en-US" sz="23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during transcription and translation.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3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 </a:t>
            </a:r>
            <a:r>
              <a:rPr lang="en-US" sz="23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improve accessibility</a:t>
            </a:r>
            <a:r>
              <a:rPr lang="en-US" sz="23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of legal information for lawyers, judges, and students.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3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 </a:t>
            </a:r>
            <a:r>
              <a:rPr lang="en-US" sz="23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store and organize transcribed data</a:t>
            </a:r>
            <a:r>
              <a:rPr lang="en-US" sz="23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for easy searching and future reference.</a:t>
            </a:r>
          </a:p>
          <a:p>
            <a:endParaRPr lang="en-IN" sz="23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E3A73A46-C306-3A80-EE41-48AFB583843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0050" y="379562"/>
            <a:ext cx="10131425" cy="1456267"/>
          </a:xfrm>
        </p:spPr>
        <p:txBody>
          <a:bodyPr/>
          <a:lstStyle/>
          <a:p>
            <a:r>
              <a:rPr lang="en-US" b="1" cap="none" dirty="0">
                <a:latin typeface="Times New Roman" panose="02020603050405020304" pitchFamily="18" charset="0"/>
                <a:cs typeface="Times New Roman" panose="02020603050405020304" pitchFamily="18" charset="0"/>
              </a:rPr>
              <a:t>Objective of the Project</a:t>
            </a:r>
            <a:endParaRPr lang="en-IN" b="1" cap="none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92187083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>
            <a:extLst>
              <a:ext uri="{FF2B5EF4-FFF2-40B4-BE49-F238E27FC236}">
                <a16:creationId xmlns:a16="http://schemas.microsoft.com/office/drawing/2014/main" id="{8D46E96F-26A8-3D59-7670-E6757E76F9A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0050" y="379562"/>
            <a:ext cx="10131425" cy="1456267"/>
          </a:xfrm>
        </p:spPr>
        <p:txBody>
          <a:bodyPr/>
          <a:lstStyle/>
          <a:p>
            <a:r>
              <a:rPr lang="en-US" b="1" cap="none" dirty="0">
                <a:latin typeface="Times New Roman" panose="02020603050405020304" pitchFamily="18" charset="0"/>
                <a:cs typeface="Times New Roman" panose="02020603050405020304" pitchFamily="18" charset="0"/>
              </a:rPr>
              <a:t>Scope of the Project</a:t>
            </a:r>
            <a:endParaRPr lang="en-IN" b="1" cap="none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Rectangle 1">
            <a:extLst>
              <a:ext uri="{FF2B5EF4-FFF2-40B4-BE49-F238E27FC236}">
                <a16:creationId xmlns:a16="http://schemas.microsoft.com/office/drawing/2014/main" id="{15941BCA-E281-5EBA-1E35-E5003F2E5AD8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685801" y="2327724"/>
            <a:ext cx="10706818" cy="32778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defTabSz="91440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</a:pPr>
            <a:r>
              <a:rPr kumimoji="0" lang="en-US" altLang="en-US" sz="23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The project focuses on </a:t>
            </a:r>
            <a:r>
              <a:rPr kumimoji="0" lang="en-US" altLang="en-US" sz="23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automatic transcription of legal audio recordings</a:t>
            </a:r>
            <a:r>
              <a:rPr kumimoji="0" lang="en-US" altLang="en-US" sz="23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such as court arguments, hearings, and discussions.</a:t>
            </a:r>
          </a:p>
          <a:p>
            <a:pPr defTabSz="91440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</a:pPr>
            <a:r>
              <a:rPr kumimoji="0" lang="en-US" altLang="en-US" sz="23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It includes </a:t>
            </a:r>
            <a:r>
              <a:rPr kumimoji="0" lang="en-US" altLang="en-US" sz="23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translation of transcribed legal text</a:t>
            </a:r>
            <a:r>
              <a:rPr kumimoji="0" lang="en-US" altLang="en-US" sz="23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into one or more required languages.</a:t>
            </a:r>
          </a:p>
          <a:p>
            <a:pPr defTabSz="91440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</a:pPr>
            <a:r>
              <a:rPr kumimoji="0" lang="en-US" altLang="en-US" sz="23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The system supports handling of </a:t>
            </a:r>
            <a:r>
              <a:rPr kumimoji="0" lang="en-US" altLang="en-US" sz="23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legal terminology and formal language</a:t>
            </a:r>
            <a:r>
              <a:rPr kumimoji="0" lang="en-US" altLang="en-US" sz="23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used in judicial proceedings.</a:t>
            </a:r>
          </a:p>
          <a:p>
            <a:pPr defTabSz="91440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</a:pPr>
            <a:r>
              <a:rPr kumimoji="0" lang="en-US" altLang="en-US" sz="23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It can be used by </a:t>
            </a:r>
            <a:r>
              <a:rPr kumimoji="0" lang="en-US" altLang="en-US" sz="23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lawyers, judges, legal researchers, and students</a:t>
            </a:r>
            <a:r>
              <a:rPr kumimoji="0" lang="en-US" altLang="en-US" sz="23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for reference and analysis.</a:t>
            </a:r>
          </a:p>
          <a:p>
            <a:pPr defTabSz="91440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</a:pPr>
            <a:r>
              <a:rPr kumimoji="0" lang="en-US" altLang="en-US" sz="23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The project can be extended to support </a:t>
            </a:r>
            <a:r>
              <a:rPr kumimoji="0" lang="en-US" altLang="en-US" sz="23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multiple languages, real-time transcription, and improved accuracy</a:t>
            </a:r>
            <a:r>
              <a:rPr kumimoji="0" lang="en-US" altLang="en-US" sz="23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in the future.</a:t>
            </a:r>
          </a:p>
        </p:txBody>
      </p:sp>
    </p:spTree>
    <p:extLst>
      <p:ext uri="{BB962C8B-B14F-4D97-AF65-F5344CB8AC3E}">
        <p14:creationId xmlns:p14="http://schemas.microsoft.com/office/powerpoint/2010/main" val="289231743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2302DFCF-0BEA-6AD9-384A-DEB0EB877DB9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 rotWithShape="1">
          <a:blip r:embed="rId2"/>
          <a:srcRect l="26010" t="19821" r="11665"/>
          <a:stretch/>
        </p:blipFill>
        <p:spPr>
          <a:xfrm>
            <a:off x="3421380" y="1600200"/>
            <a:ext cx="5349239" cy="4878238"/>
          </a:xfrm>
        </p:spPr>
      </p:pic>
      <p:sp>
        <p:nvSpPr>
          <p:cNvPr id="6" name="Title 1">
            <a:extLst>
              <a:ext uri="{FF2B5EF4-FFF2-40B4-BE49-F238E27FC236}">
                <a16:creationId xmlns:a16="http://schemas.microsoft.com/office/drawing/2014/main" id="{0A8797B4-A818-A131-BC46-63C2E31D400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0050" y="379562"/>
            <a:ext cx="10131425" cy="1456267"/>
          </a:xfrm>
        </p:spPr>
        <p:txBody>
          <a:bodyPr/>
          <a:lstStyle/>
          <a:p>
            <a:r>
              <a:rPr lang="en-US" b="1" cap="none" dirty="0">
                <a:latin typeface="Times New Roman" panose="02020603050405020304" pitchFamily="18" charset="0"/>
                <a:cs typeface="Times New Roman" panose="02020603050405020304" pitchFamily="18" charset="0"/>
              </a:rPr>
              <a:t>System Architecture</a:t>
            </a:r>
            <a:endParaRPr lang="en-IN" b="1" cap="none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95327446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22FC960-4ACF-D212-30D9-C601EF1EA3F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80050" y="1696279"/>
            <a:ext cx="11657724" cy="5161721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1. Audio Preprocessing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Converts raw legal audio into a standard format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Removes background noise and silent parts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Improves clarity of courtroom and legal discussions</a:t>
            </a:r>
          </a:p>
          <a:p>
            <a:pPr marL="0" indent="0">
              <a:buNone/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2. Speech-to-Text Transcription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Converts legal arguments and hearings into text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Handles legal terms and formal language accurately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Generates clear and readable transcripts</a:t>
            </a:r>
          </a:p>
          <a:p>
            <a:pPr marL="0" indent="0">
              <a:buNone/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3. Legal Text Processing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Cleans and structures transcribed legal text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Identifies important legal phrases and sections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Improves readability and consistency</a:t>
            </a:r>
          </a:p>
          <a:p>
            <a:pPr marL="0" indent="0">
              <a:buNone/>
            </a:pP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FE91DEFC-6715-76BC-EB0E-85653BDC94C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0050" y="379562"/>
            <a:ext cx="10131425" cy="1456267"/>
          </a:xfrm>
        </p:spPr>
        <p:txBody>
          <a:bodyPr/>
          <a:lstStyle/>
          <a:p>
            <a:r>
              <a:rPr lang="en-US" b="1" cap="none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Core Application Modules</a:t>
            </a:r>
            <a:endParaRPr lang="en-IN" b="1" cap="none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44495373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52A70A6-7FB9-0359-3938-2245C91D8E3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85801" y="185530"/>
            <a:ext cx="11042373" cy="6228521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4. Translation Module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Translates legal text into required languages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Preserves original legal meaning and context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Supports multilingual legal accessibility</a:t>
            </a:r>
          </a:p>
          <a:p>
            <a:pPr marL="0" indent="0">
              <a:buNone/>
            </a:pP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5. Accuracy &amp; Quality Analysis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Evaluates transcription accuracy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Checks translation consistency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Ensures reliability of generated content</a:t>
            </a:r>
          </a:p>
          <a:p>
            <a:pPr marL="0" indent="0">
              <a:buNone/>
            </a:pP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6. Frontend Visualization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Displays transcribed and translated legal text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Enables easy viewing and navigation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Provides user-friendly interaction</a:t>
            </a:r>
          </a:p>
        </p:txBody>
      </p:sp>
    </p:spTree>
    <p:extLst>
      <p:ext uri="{BB962C8B-B14F-4D97-AF65-F5344CB8AC3E}">
        <p14:creationId xmlns:p14="http://schemas.microsoft.com/office/powerpoint/2010/main" val="184553612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290D4D43-062C-5E97-94EE-57EBFD105FD3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680050" y="1123619"/>
            <a:ext cx="10678063" cy="5627987"/>
          </a:xfrm>
        </p:spPr>
      </p:pic>
      <p:sp>
        <p:nvSpPr>
          <p:cNvPr id="4" name="Title 1">
            <a:extLst>
              <a:ext uri="{FF2B5EF4-FFF2-40B4-BE49-F238E27FC236}">
                <a16:creationId xmlns:a16="http://schemas.microsoft.com/office/drawing/2014/main" id="{98A5659E-CA1F-14A5-9D48-57B3AF94C15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0050" y="57510"/>
            <a:ext cx="10131425" cy="1456267"/>
          </a:xfrm>
        </p:spPr>
        <p:txBody>
          <a:bodyPr/>
          <a:lstStyle/>
          <a:p>
            <a:r>
              <a:rPr lang="en-US" b="1" cap="none" dirty="0">
                <a:latin typeface="Times New Roman" panose="02020603050405020304" pitchFamily="18" charset="0"/>
                <a:cs typeface="Times New Roman" panose="02020603050405020304" pitchFamily="18" charset="0"/>
              </a:rPr>
              <a:t>Frontend Interface</a:t>
            </a:r>
            <a:endParaRPr lang="en-IN" b="1" cap="none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72998523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5BC1FFE-1BC9-94B1-46DB-15CA37E1416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80050" y="1681992"/>
            <a:ext cx="10131425" cy="4796446"/>
          </a:xfrm>
        </p:spPr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1. Audio Processing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sz="20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Librosa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– Audio loading, normalization, and feature handling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sz="20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PyDub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– Audio format conversion and silence removal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sz="20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FFmpeg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– Audio decoding and preprocessing support</a:t>
            </a:r>
          </a:p>
          <a:p>
            <a:pPr marL="0" indent="0">
              <a:buNone/>
            </a:pP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2. Speech-to-Text (ASR)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Whisper / Faster-Whisper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– Accurate transcription of legal audio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0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Vosk</a:t>
            </a: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(optional)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– Offline speech recognition support</a:t>
            </a:r>
          </a:p>
          <a:p>
            <a:pPr marL="0" indent="0">
              <a:buNone/>
            </a:pP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3. Natural Language Processing (NLP)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NLTK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– Text cleaning and tokenization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0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SpaCy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– Linguistic processing and legal text structuring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Hugging Face Transformers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– Language models for text understanding</a:t>
            </a:r>
          </a:p>
          <a:p>
            <a:pPr marL="0" indent="0">
              <a:buNone/>
            </a:pPr>
            <a:endParaRPr lang="en-I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10DA1B66-9432-85CA-49C7-99C8B90419F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0050" y="379562"/>
            <a:ext cx="10131425" cy="1456267"/>
          </a:xfrm>
        </p:spPr>
        <p:txBody>
          <a:bodyPr/>
          <a:lstStyle/>
          <a:p>
            <a:r>
              <a:rPr lang="en-US" b="1" cap="none" dirty="0">
                <a:latin typeface="Times New Roman" panose="02020603050405020304" pitchFamily="18" charset="0"/>
                <a:cs typeface="Times New Roman" panose="02020603050405020304" pitchFamily="18" charset="0"/>
              </a:rPr>
              <a:t>Technology Stack</a:t>
            </a:r>
            <a:endParaRPr lang="en-IN" b="1" cap="none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26203352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0C64FFC-A7E3-1BCB-811D-D7EA1DD4562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46495" y="434116"/>
            <a:ext cx="10942607" cy="5989767"/>
          </a:xfrm>
        </p:spPr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4. Translation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Transformer-based Translation Models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– Multilingual legal text translation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Hugging Face Translation Pipelines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– Preserving semantic and legal meaning</a:t>
            </a:r>
          </a:p>
          <a:p>
            <a:pPr marL="0" indent="0">
              <a:buNone/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5. Backend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Python 3.9+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– Core processing and pipeline implementation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Flask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– API handling and backend communication</a:t>
            </a:r>
          </a:p>
          <a:p>
            <a:pPr marL="0" indent="0">
              <a:buNone/>
            </a:pP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6. Frontend / Visualization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React.js / HTML / CSS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– User interface development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JavaScript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– Interactive visualization and navigation</a:t>
            </a:r>
          </a:p>
          <a:p>
            <a:pPr marL="0" indent="0">
              <a:buNone/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7. Data Storage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JSON / CSV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– Structured storage of transcripts and translations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SQLite (optional)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– Persistent storage support</a:t>
            </a:r>
          </a:p>
          <a:p>
            <a:pPr marL="0" indent="0">
              <a:buNone/>
            </a:pP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8. Development Tools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Git &amp; GitHub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– Version control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VS Code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– Development environment</a:t>
            </a:r>
          </a:p>
          <a:p>
            <a:pPr marL="0" indent="0">
              <a:buNone/>
            </a:pP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07305631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>
            <a:extLst>
              <a:ext uri="{FF2B5EF4-FFF2-40B4-BE49-F238E27FC236}">
                <a16:creationId xmlns:a16="http://schemas.microsoft.com/office/drawing/2014/main" id="{69514FF4-638C-3584-3D3D-0A2E48D4012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0050" y="379562"/>
            <a:ext cx="10131425" cy="1456267"/>
          </a:xfrm>
        </p:spPr>
        <p:txBody>
          <a:bodyPr/>
          <a:lstStyle/>
          <a:p>
            <a:r>
              <a:rPr lang="en-US" b="1" cap="none" dirty="0">
                <a:latin typeface="Times New Roman" panose="02020603050405020304" pitchFamily="18" charset="0"/>
                <a:cs typeface="Times New Roman" panose="02020603050405020304" pitchFamily="18" charset="0"/>
              </a:rPr>
              <a:t>Challenges Faced</a:t>
            </a:r>
            <a:endParaRPr lang="en-IN" b="1" cap="none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75C85FAF-5618-E214-6D1F-966FA86C3983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680050" y="1775642"/>
            <a:ext cx="9677649" cy="324653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Handling </a:t>
            </a:r>
            <a:r>
              <a:rPr kumimoji="0" lang="en-US" altLang="en-US" sz="2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background noise and low-quality legal audio</a:t>
            </a:r>
            <a:endParaRPr kumimoji="0" lang="en-US" altLang="en-US" sz="2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Accurately transcribing </a:t>
            </a:r>
            <a:r>
              <a:rPr kumimoji="0" lang="en-US" altLang="en-US" sz="2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complex legal terminology and accents</a:t>
            </a:r>
            <a:endParaRPr kumimoji="0" lang="en-US" altLang="en-US" sz="2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Maintaining </a:t>
            </a:r>
            <a:r>
              <a:rPr kumimoji="0" lang="en-US" altLang="en-US" sz="2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legal meaning during translation</a:t>
            </a:r>
            <a:endParaRPr kumimoji="0" lang="en-US" altLang="en-US" sz="2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Variations in </a:t>
            </a:r>
            <a:r>
              <a:rPr kumimoji="0" lang="en-US" altLang="en-US" sz="2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speaker clarity and speaking speed</a:t>
            </a:r>
            <a:endParaRPr kumimoji="0" lang="en-US" altLang="en-US" sz="2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Ensuring </a:t>
            </a:r>
            <a:r>
              <a:rPr kumimoji="0" lang="en-US" altLang="en-US" sz="2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high transcription accuracy</a:t>
            </a: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across long recordings</a:t>
            </a:r>
          </a:p>
        </p:txBody>
      </p:sp>
    </p:spTree>
    <p:extLst>
      <p:ext uri="{BB962C8B-B14F-4D97-AF65-F5344CB8AC3E}">
        <p14:creationId xmlns:p14="http://schemas.microsoft.com/office/powerpoint/2010/main" val="256102868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>
            <a:extLst>
              <a:ext uri="{FF2B5EF4-FFF2-40B4-BE49-F238E27FC236}">
                <a16:creationId xmlns:a16="http://schemas.microsoft.com/office/drawing/2014/main" id="{85F1498D-4D96-37D9-81BA-91AFB24C6CC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0050" y="379562"/>
            <a:ext cx="10131425" cy="1456267"/>
          </a:xfrm>
        </p:spPr>
        <p:txBody>
          <a:bodyPr/>
          <a:lstStyle/>
          <a:p>
            <a:r>
              <a:rPr lang="en-US" b="1" cap="none" dirty="0">
                <a:latin typeface="Times New Roman" panose="02020603050405020304" pitchFamily="18" charset="0"/>
                <a:cs typeface="Times New Roman" panose="02020603050405020304" pitchFamily="18" charset="0"/>
              </a:rPr>
              <a:t>Future Scope</a:t>
            </a:r>
            <a:endParaRPr lang="en-IN" b="1" cap="none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D1CDD12F-D960-D586-3419-8842CC7E8F4B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685801" y="2020203"/>
            <a:ext cx="10401299" cy="389286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Support for </a:t>
            </a:r>
            <a:r>
              <a:rPr kumimoji="0" lang="en-US" altLang="en-US" sz="2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real-time legal audio transcription</a:t>
            </a:r>
            <a:endParaRPr kumimoji="0" lang="en-US" altLang="en-US" sz="2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Speaker </a:t>
            </a:r>
            <a:r>
              <a:rPr kumimoji="0" lang="en-US" altLang="en-US" sz="28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diarization</a:t>
            </a: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to identify multiple speakers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Enhanced </a:t>
            </a:r>
            <a:r>
              <a:rPr kumimoji="0" lang="en-US" altLang="en-US" sz="2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legal terminology recognition</a:t>
            </a: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using domain-specific models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Automatic summarization</a:t>
            </a: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of legal arguments and judgments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Integration with </a:t>
            </a:r>
            <a:r>
              <a:rPr kumimoji="0" lang="en-US" altLang="en-US" sz="2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court management and legal document systems</a:t>
            </a:r>
            <a:endParaRPr kumimoji="0" lang="en-US" altLang="en-US" sz="2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81021822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>
            <a:extLst>
              <a:ext uri="{FF2B5EF4-FFF2-40B4-BE49-F238E27FC236}">
                <a16:creationId xmlns:a16="http://schemas.microsoft.com/office/drawing/2014/main" id="{F958376A-6029-B9C4-BA09-E94B63BC343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0050" y="379562"/>
            <a:ext cx="10131425" cy="1456267"/>
          </a:xfrm>
        </p:spPr>
        <p:txBody>
          <a:bodyPr/>
          <a:lstStyle/>
          <a:p>
            <a:r>
              <a:rPr lang="en-US" b="1" cap="none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Conclusion</a:t>
            </a:r>
            <a:endParaRPr lang="en-IN" b="1" cap="none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Rectangle 4">
            <a:extLst>
              <a:ext uri="{FF2B5EF4-FFF2-40B4-BE49-F238E27FC236}">
                <a16:creationId xmlns:a16="http://schemas.microsoft.com/office/drawing/2014/main" id="{FCDCD3D0-D0EB-FC11-038E-8B5BC4E29A46}"/>
              </a:ext>
            </a:extLst>
          </p:cNvPr>
          <p:cNvSpPr>
            <a:spLocks noChangeArrowheads="1"/>
          </p:cNvSpPr>
          <p:nvPr/>
        </p:nvSpPr>
        <p:spPr bwMode="auto">
          <a:xfrm>
            <a:off x="868680" y="2274838"/>
            <a:ext cx="10355580" cy="230832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The Automated Legal Arguments Transcription &amp; Translation system provides an efficient solution for converting legal audio into accurate and structured text. By leveraging AI-based speech recognition and NLP techniques, the project reduces manual effort, improves accessibility, and supports multilingual legal documentation. The system enhances transparency and usability of legal records, making it a valuable tool for lawyers, judges, and legal researchers.</a:t>
            </a:r>
            <a:endParaRPr kumimoji="0" lang="en-US" altLang="en-US" sz="8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742392005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86163B9-25EC-D6B8-CA1D-900522BABE7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338946" y="2700866"/>
            <a:ext cx="5514108" cy="1456267"/>
          </a:xfrm>
        </p:spPr>
        <p:txBody>
          <a:bodyPr>
            <a:normAutofit/>
          </a:bodyPr>
          <a:lstStyle/>
          <a:p>
            <a:pPr algn="ctr"/>
            <a:r>
              <a:rPr lang="en-US" sz="4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</a:t>
            </a:r>
            <a:r>
              <a:rPr lang="en-IN" sz="4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hank You</a:t>
            </a:r>
            <a:br>
              <a:rPr lang="en-IN" sz="4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sz="4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Q&amp;A</a:t>
            </a:r>
          </a:p>
        </p:txBody>
      </p:sp>
    </p:spTree>
    <p:extLst>
      <p:ext uri="{BB962C8B-B14F-4D97-AF65-F5344CB8AC3E}">
        <p14:creationId xmlns:p14="http://schemas.microsoft.com/office/powerpoint/2010/main" val="1852785438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Celestial">
  <a:themeElements>
    <a:clrScheme name="Celestial">
      <a:dk1>
        <a:sysClr val="windowText" lastClr="000000"/>
      </a:dk1>
      <a:lt1>
        <a:sysClr val="window" lastClr="FFFFFF"/>
      </a:lt1>
      <a:dk2>
        <a:srgbClr val="18276C"/>
      </a:dk2>
      <a:lt2>
        <a:srgbClr val="EBEBEB"/>
      </a:lt2>
      <a:accent1>
        <a:srgbClr val="AC3EC1"/>
      </a:accent1>
      <a:accent2>
        <a:srgbClr val="477BD1"/>
      </a:accent2>
      <a:accent3>
        <a:srgbClr val="46B298"/>
      </a:accent3>
      <a:accent4>
        <a:srgbClr val="90BA4C"/>
      </a:accent4>
      <a:accent5>
        <a:srgbClr val="DD9D31"/>
      </a:accent5>
      <a:accent6>
        <a:srgbClr val="E25247"/>
      </a:accent6>
      <a:hlink>
        <a:srgbClr val="C573D2"/>
      </a:hlink>
      <a:folHlink>
        <a:srgbClr val="CCAEE8"/>
      </a:folHlink>
    </a:clrScheme>
    <a:fontScheme name="Celestial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Celestial">
      <a:fillStyleLst>
        <a:solidFill>
          <a:schemeClr val="phClr"/>
        </a:solidFill>
        <a:gradFill rotWithShape="1">
          <a:gsLst>
            <a:gs pos="0">
              <a:schemeClr val="phClr">
                <a:tint val="70000"/>
                <a:lumMod val="110000"/>
              </a:schemeClr>
            </a:gs>
            <a:gs pos="100000">
              <a:schemeClr val="phClr">
                <a:tint val="82000"/>
                <a:alpha val="74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lumMod val="100000"/>
              </a:schemeClr>
            </a:gs>
            <a:gs pos="100000">
              <a:schemeClr val="phClr">
                <a:shade val="88000"/>
                <a:lumMod val="88000"/>
              </a:schemeClr>
            </a:gs>
          </a:gsLst>
          <a:lin ang="5400000" scaled="1"/>
        </a:gradFill>
      </a:fillStyleLst>
      <a:lnStyleLst>
        <a:ln w="9525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63500" dist="38100" dir="5400000" rotWithShape="0">
              <a:srgbClr val="000000">
                <a:alpha val="65000"/>
              </a:srgbClr>
            </a:outerShdw>
          </a:effectLst>
          <a:scene3d>
            <a:camera prst="orthographicFront">
              <a:rot lat="0" lon="0" rev="0"/>
            </a:camera>
            <a:lightRig rig="threePt" dir="tl">
              <a:rot lat="0" lon="0" rev="1200000"/>
            </a:lightRig>
          </a:scene3d>
          <a:sp3d>
            <a:bevelT w="38100" h="127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shade val="96000"/>
                <a:hueMod val="100000"/>
                <a:satMod val="180000"/>
                <a:lumMod val="110000"/>
              </a:schemeClr>
            </a:gs>
            <a:gs pos="100000">
              <a:schemeClr val="phClr">
                <a:shade val="96000"/>
                <a:satMod val="160000"/>
                <a:lumMod val="100000"/>
              </a:schemeClr>
            </a:gs>
          </a:gsLst>
          <a:lin ang="4740000" scaled="1"/>
        </a:gradFill>
        <a:blipFill>
          <a:blip xmlns:r="http://schemas.openxmlformats.org/officeDocument/2006/relationships" r:embed="rId1"/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Celestial" id="{C4BB2A3D-0E93-4C5F-B0D2-9D3FCE089CC5}" vid="{42E5908D-19A2-46FD-89FA-638B126129EF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TM03457452[[fn=Celestial]]</Template>
  <TotalTime>176</TotalTime>
  <Words>973</Words>
  <Application>Microsoft Office PowerPoint</Application>
  <PresentationFormat>Widescreen</PresentationFormat>
  <Paragraphs>94</Paragraphs>
  <Slides>15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20" baseType="lpstr">
      <vt:lpstr>Arial</vt:lpstr>
      <vt:lpstr>Calibri</vt:lpstr>
      <vt:lpstr>Calibri Light</vt:lpstr>
      <vt:lpstr>Times New Roman</vt:lpstr>
      <vt:lpstr>Celestial</vt:lpstr>
      <vt:lpstr>Automated Legal Arguements Transcription And Translation</vt:lpstr>
      <vt:lpstr>Introduction</vt:lpstr>
      <vt:lpstr>Problem Statement</vt:lpstr>
      <vt:lpstr>Objective of the Project</vt:lpstr>
      <vt:lpstr>Scope of the Project</vt:lpstr>
      <vt:lpstr>System Architecture</vt:lpstr>
      <vt:lpstr>Core Application Modules</vt:lpstr>
      <vt:lpstr>PowerPoint Presentation</vt:lpstr>
      <vt:lpstr>Frontend Interface</vt:lpstr>
      <vt:lpstr>Technology Stack</vt:lpstr>
      <vt:lpstr>PowerPoint Presentation</vt:lpstr>
      <vt:lpstr>Challenges Faced</vt:lpstr>
      <vt:lpstr>Future Scope</vt:lpstr>
      <vt:lpstr>Conclusion</vt:lpstr>
      <vt:lpstr>Thank You Q&amp;A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Automated Legal Arguements Transcription And Translation</dc:title>
  <dc:creator>ANKUSH MAJALIKAR</dc:creator>
  <cp:lastModifiedBy>ANKUSH MAJALIKAR</cp:lastModifiedBy>
  <cp:revision>2</cp:revision>
  <dcterms:created xsi:type="dcterms:W3CDTF">2026-01-21T17:53:44Z</dcterms:created>
  <dcterms:modified xsi:type="dcterms:W3CDTF">2026-01-23T18:32:45Z</dcterms:modified>
</cp:coreProperties>
</file>